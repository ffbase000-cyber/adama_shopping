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95" r:id="rId5"/>
    <p:sldId id="261" r:id="rId6"/>
    <p:sldId id="257" r:id="rId7"/>
    <p:sldId id="25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96" r:id="rId17"/>
    <p:sldId id="270" r:id="rId18"/>
    <p:sldId id="273" r:id="rId19"/>
    <p:sldId id="276" r:id="rId20"/>
    <p:sldId id="277" r:id="rId21"/>
    <p:sldId id="278" r:id="rId22"/>
    <p:sldId id="279" r:id="rId23"/>
    <p:sldId id="280" r:id="rId24"/>
    <p:sldId id="283" r:id="rId25"/>
    <p:sldId id="281" r:id="rId26"/>
    <p:sldId id="282" r:id="rId27"/>
    <p:sldId id="284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-101" y="-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41FF98-AC69-4314-952C-B12723A07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0E6047-88ED-431F-8ECD-82D047A0F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77380F-5E5A-4A0A-B795-E8BA4978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E557D08-320F-4563-963C-07DC722B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E8CCF5-F740-406A-9271-032BD2A5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7069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81B22E-B1A0-42BB-8AF5-FB49F0DDC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C3C100-2367-4B42-A8D8-37F76DA2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8955987-2C25-4621-9320-A68185E1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028B2B8-A374-44EE-8B01-257B0256C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4E5E44-9464-49E9-8726-15BDE5FE8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539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AB87DD-F416-401C-8EAA-F80DBDE0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256EC7-3935-419E-B3B9-7ECEB9912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5A4176-1503-454D-8710-6864E451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0A87EFA-21EE-4497-BD17-967B573D5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74F44C-EC28-497D-B2CD-B2DA2A00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093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70555B-CE9D-44E3-91EA-D251EA01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24A5A0-A470-4AF0-827D-8E77CD5151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46C20EC-DFDB-4C00-AEAF-2F90C9B2F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A56305-ACDE-4BD4-94ED-9DCE8F49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2F99772-496B-4EAD-B22B-D93B0E79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1A1BE11-69DE-477A-B994-E341A473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7733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9ABDDB-D06D-4C40-B56C-0AA1DD3E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459D03-06E8-4FF4-A2E6-54A997AD3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9F15F0C-82E5-4D54-935D-2B066A275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853E13A-2DE7-4709-BD26-7401658DC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5B1D003-8326-4155-AB08-E408197C2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F9AB6D0-C67C-434A-B02B-301BDB2C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E7560D7-4117-4AB7-BC97-818EE0A7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1E37252-D7A4-47E7-909D-966FA6F6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49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E84C0D-B821-4875-A477-27BE43FE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50D42D2-121E-4C28-B080-B70E6554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CAD1A41-443C-46F2-A0EE-164A3205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248B6C5-D145-4C3D-BFEB-B3F29E56C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6985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72D3F68-DACA-4770-853B-4B0C98C7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E372C0BE-45A2-4F4C-92C5-CC0D36A9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EA0190D-ECB0-4395-A406-4D318789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248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A19768-F36E-4674-9048-6D4DF47DC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F78B11-FFB3-4279-8327-A806D3D7D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E723E5E-D53E-4AC9-8DE1-7074F0C34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36F262-F65F-483D-A32C-1DC0D880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9F94024-AD95-4743-8631-9E0223E4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79A8E17-AFA9-455B-A469-6780CE61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41197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00E9F2-FABD-47CE-8161-116AA809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48EB63C-7179-438F-ADFB-46C75A26F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AAC0F9-C373-4747-A699-9CF5D9B2B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2F118C-2832-4180-92D6-4279411F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25E66B7-09ED-42B6-96B4-41ED9B629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0C219A-8E3D-47B9-A699-F43171A3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7039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36F099-B216-4C9E-B2B8-6C4CB080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F36592A-7639-483E-A108-4925432FB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E61BF1-769E-4DAC-9A82-1B923A1F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B1E421-982E-4460-996F-37953AA0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871CDF-2FB3-4BB3-A7C3-9482C186B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7593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93661B1-1BBD-4EDC-B4BD-C9EC4E41E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3C2A4C6-8293-47DC-836B-40150C31D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978A21-DB9B-4216-AF10-40F6AA196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BFCD50-12A6-4B73-9C5C-3B4CED86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672634-240B-4FD9-BD24-1DE21551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0056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149EFB3-C6B8-493F-ACAC-4452C2EBB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ED6A84-5A07-4C29-BCA7-19B2F5E60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37FD49-7A29-4478-9D85-6EE843947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F88F3-3EE0-44CA-B02C-F65363CAD7BB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CEB2D02-2AF7-4345-9EFF-198D8D63D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271D4FA-E871-4A24-B527-F1296233D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BB367-1C0C-44BC-BDD8-E30614D022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073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alcast.com/2017/06/24/simon-sinek-be-the-last-to-speak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/>
          <a:lstStyle/>
          <a:p>
            <a:r>
              <a:rPr lang="en-US" b="1" dirty="0"/>
              <a:t> </a:t>
            </a:r>
            <a:endParaRPr lang="en-US" dirty="0"/>
          </a:p>
          <a:p>
            <a:r>
              <a:rPr lang="en-US" sz="6000" b="1" dirty="0">
                <a:latin typeface="Monotype Corsiva" panose="03010101010201010101" pitchFamily="66" charset="0"/>
              </a:rPr>
              <a:t>MODULE TITLE</a:t>
            </a:r>
            <a:endParaRPr lang="en-US" sz="6000" dirty="0">
              <a:latin typeface="Monotype Corsiva" panose="03010101010201010101" pitchFamily="66" charset="0"/>
            </a:endParaRPr>
          </a:p>
          <a:p>
            <a:r>
              <a:rPr lang="en-US" sz="6000" b="1" dirty="0">
                <a:latin typeface="Monotype Corsiva" panose="03010101010201010101" pitchFamily="66" charset="0"/>
              </a:rPr>
              <a:t>Recording Client Support Requirements</a:t>
            </a:r>
            <a:endParaRPr lang="en-US" sz="6000" dirty="0">
              <a:latin typeface="Monotype Corsiva" panose="03010101010201010101" pitchFamily="66" charset="0"/>
            </a:endParaRPr>
          </a:p>
          <a:p>
            <a:endParaRPr lang="en-US" sz="5400" b="1" dirty="0">
              <a:latin typeface="Monotype Corsiva" panose="03010101010201010101" pitchFamily="66" charset="0"/>
            </a:endParaRPr>
          </a:p>
          <a:p>
            <a:r>
              <a:rPr lang="en-US" sz="5400" b="1" dirty="0">
                <a:latin typeface="Monotype Corsiva" panose="03010101010201010101" pitchFamily="66" charset="0"/>
              </a:rPr>
              <a:t>Unit One</a:t>
            </a:r>
            <a:endParaRPr lang="en-US" sz="5400" dirty="0">
              <a:latin typeface="Monotype Corsiva" panose="03010101010201010101" pitchFamily="66" charset="0"/>
            </a:endParaRPr>
          </a:p>
          <a:p>
            <a:r>
              <a:rPr lang="en-US" sz="5400" b="1" dirty="0">
                <a:latin typeface="Monotype Corsiva" panose="03010101010201010101" pitchFamily="66" charset="0"/>
              </a:rPr>
              <a:t>Log Requests for Support</a:t>
            </a:r>
            <a:endParaRPr lang="en-US" sz="5400" dirty="0">
              <a:latin typeface="Monotype Corsiva" panose="03010101010201010101" pitchFamily="66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7515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32388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Client support requirements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13184"/>
            <a:ext cx="12192000" cy="6344815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is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integral part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operation of modern organizations 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of information technology need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&amp; high-quality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A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providing good IT supports for clients is vital to the effective operation of any organisations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needed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professional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working as a help desk person to record the clients’ support requirement are:</a:t>
            </a: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 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listening skill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act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conduct 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call handling processes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ü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handling skill, etc.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7240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4942"/>
            <a:ext cx="12192000" cy="6157783"/>
          </a:xfrm>
        </p:spPr>
        <p:txBody>
          <a:bodyPr>
            <a:noAutofit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providing advice on IT problems will 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epend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your organization.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organizations may rely on local IT businesses to provide support, or take out a contract with a company which provides IT support services.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medium and large organizations provide a centralized help desk support service.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with IT problems report these to the help desk.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2043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4942"/>
            <a:ext cx="12192000" cy="6157783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is typically provided for areas such as:</a:t>
            </a: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faults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problems (including login problems)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and Internet problems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Consultation on purchasing information technologies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and configuration hardware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needs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Printing problems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installation and upgrade, etc.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3989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85192"/>
            <a:ext cx="12192000" cy="6372807"/>
          </a:xfrm>
        </p:spPr>
        <p:txBody>
          <a:bodyPr>
            <a:normAutofit fontScale="92500" lnSpcReduction="10000"/>
          </a:bodyPr>
          <a:lstStyle/>
          <a:p>
            <a:pPr algn="just">
              <a:spcAft>
                <a:spcPts val="12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 may request support:</a:t>
            </a: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calling a telephone or by email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come in person /coming to office/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fax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 charge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recording client support request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enter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 into a centralized database.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organizations, help desk operators attempt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straightforward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organizations, operators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log calls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then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appropriate technical staff.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 of problems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handled at the first point of contact will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help desk staff. </a:t>
            </a:r>
          </a:p>
        </p:txBody>
      </p:sp>
    </p:spTree>
    <p:extLst>
      <p:ext uri="{BB962C8B-B14F-4D97-AF65-F5344CB8AC3E}">
        <p14:creationId xmlns:p14="http://schemas.microsoft.com/office/powerpoint/2010/main" xmlns="" val="154340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client support requests and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individual, organization, business or an institution that may come in person or communicate using any communication means like telephone, e-mail, fax or online help desk to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technical support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technologies, etc.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requirements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organizational rule, regulation and policies.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Escalate: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helpdesk 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resolved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personnel at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level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an IT specialist or IT manager.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level Support: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support offered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customer by a help desk operator.</a:t>
            </a:r>
          </a:p>
        </p:txBody>
      </p:sp>
    </p:spTree>
    <p:extLst>
      <p:ext uri="{BB962C8B-B14F-4D97-AF65-F5344CB8AC3E}">
        <p14:creationId xmlns:p14="http://schemas.microsoft.com/office/powerpoint/2010/main" xmlns="" val="257327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Priority: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given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 incident, problem or change to indicate its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 importance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 to appropriately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allocate resources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specify an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appropriate time-frame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resolution.</a:t>
            </a:r>
          </a:p>
          <a:p>
            <a:pPr algn="just">
              <a:spcAft>
                <a:spcPts val="12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Level Agreement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An agreement b/n a service provider and a customer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detailing the level of service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provided, including what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covered,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covered &amp;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resolution.</a:t>
            </a:r>
          </a:p>
          <a:p>
            <a:pPr algn="just">
              <a:spcAft>
                <a:spcPts val="12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contract 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expectations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an organization and the service seller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agreed-upon level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support. </a:t>
            </a:r>
          </a:p>
          <a:p>
            <a:pPr algn="just">
              <a:spcAft>
                <a:spcPts val="12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typically is a legal agreement that describes the responsibilities and liabilities of all parties involved.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339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Client’s support Request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are on the help desk and a client rings, fax, e-mail or come in person and request for support, what details do you ask them to provide?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larger organizations, particularly there is usually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specialist software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these calls are recorded.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is a sample of a typical data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form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recording details of client requests.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type of information you need to record.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3925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CF1C94F-78FE-4F1A-9D86-DFA3821A1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02114922"/>
              </p:ext>
            </p:extLst>
          </p:nvPr>
        </p:nvGraphicFramePr>
        <p:xfrm>
          <a:off x="153863" y="86092"/>
          <a:ext cx="11924167" cy="6749415"/>
        </p:xfrm>
        <a:graphic>
          <a:graphicData uri="http://schemas.openxmlformats.org/drawingml/2006/table">
            <a:tbl>
              <a:tblPr/>
              <a:tblGrid>
                <a:gridCol w="7302886">
                  <a:extLst>
                    <a:ext uri="{9D8B030D-6E8A-4147-A177-3AD203B41FA5}">
                      <a16:colId xmlns:a16="http://schemas.microsoft.com/office/drawing/2014/main" xmlns="" val="354584559"/>
                    </a:ext>
                  </a:extLst>
                </a:gridCol>
                <a:gridCol w="4621281">
                  <a:extLst>
                    <a:ext uri="{9D8B030D-6E8A-4147-A177-3AD203B41FA5}">
                      <a16:colId xmlns:a16="http://schemas.microsoft.com/office/drawing/2014/main" xmlns="" val="2871384087"/>
                    </a:ext>
                  </a:extLst>
                </a:gridCol>
              </a:tblGrid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required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Entry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0913975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 number: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57009171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Help Desk Operator’s name: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71593246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of client request: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40238460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Client’s name: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24360220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Client’s contact details: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28732199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Section and location: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2505606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Problem logged: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331260344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problem occurred: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64738837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Computer/peripheral affected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58495967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Impact of the problem on operations/business: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953725845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First line support provided (if any):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40172634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Escalate to support staff? Yes/No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580937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Support staff request details: Date and time reported: 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39329931"/>
                  </a:ext>
                </a:extLst>
              </a:tr>
              <a:tr h="4432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Name of support staff:</a:t>
                      </a: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13127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02834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Reviewing client support history and details 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80292"/>
            <a:ext cx="12192000" cy="6277707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client support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for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overcomes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following main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easily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 logged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edundancy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the same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easily identify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solved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one in queue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the responsible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staff for the resolution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problems logged, etc.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6948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and requesting the information for accuracy &amp; urgency 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23731"/>
            <a:ext cx="12192000" cy="5934268"/>
          </a:xfrm>
        </p:spPr>
        <p:txBody>
          <a:bodyPr>
            <a:normAutofit/>
          </a:bodyPr>
          <a:lstStyle/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accurate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b/c may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of people depend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it like the medical information at the hospitals.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reasons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inaccurate information.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is when the user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enters wrong value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high-impact incident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low urgency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impact will not affect the business until the end of the financial year.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7501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6297"/>
            <a:ext cx="12363059" cy="2157287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Monotype Corsiva" panose="03010101010201010101" pitchFamily="66" charset="0"/>
              </a:rPr>
              <a:t>Unit Two</a:t>
            </a:r>
            <a:br>
              <a:rPr lang="en-US" sz="5400" b="1" dirty="0">
                <a:latin typeface="Monotype Corsiva" panose="03010101010201010101" pitchFamily="66" charset="0"/>
              </a:rPr>
            </a:br>
            <a:r>
              <a:rPr lang="en-US" sz="5400" b="1" dirty="0">
                <a:latin typeface="Monotype Corsiva" panose="03010101010201010101" pitchFamily="66" charset="0"/>
              </a:rPr>
              <a:t>Prioritize Support Requests</a:t>
            </a:r>
            <a:r>
              <a:rPr lang="en-US" sz="3600" b="1" dirty="0">
                <a:latin typeface="Monotype Corsiva" panose="03010101010201010101" pitchFamily="66" charset="0"/>
              </a:rPr>
              <a:t/>
            </a:r>
            <a:br>
              <a:rPr lang="en-US" sz="3600" b="1" dirty="0">
                <a:latin typeface="Monotype Corsiva" panose="03010101010201010101" pitchFamily="66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relevant guidelines for prioritizing or rating client requests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92694"/>
            <a:ext cx="12192000" cy="4945224"/>
          </a:xfrm>
        </p:spPr>
        <p:txBody>
          <a:bodyPr>
            <a:normAutofit lnSpcReduction="10000"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organizations there 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govern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issues.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client requests based on criticality or impact on the business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factor taken into consideration is:-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Critical System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 interruption of such system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affects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organization or the business.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Urgency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service requested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085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Guidelines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policies or procedures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used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correctly perform a specific activity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operation within an organization.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client support requests will be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 a high priority,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they involve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IT functions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cannot be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until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resolved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resources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have to be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 to high priority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needs, and the progress of these support needs to be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closely monitored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ways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prioritization mechanisms are using the following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guidelines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 requests 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quickly as possible.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9064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Priority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3224"/>
            <a:ext cx="12192000" cy="6484775"/>
          </a:xfrm>
        </p:spPr>
        <p:txBody>
          <a:bodyPr>
            <a:normAutofit fontScale="70000" lnSpcReduction="20000"/>
          </a:bodyPr>
          <a:lstStyle/>
          <a:p>
            <a:pPr marL="457200" indent="-4572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priority is given if:</a:t>
            </a:r>
          </a:p>
          <a:p>
            <a:pPr marL="914400" lvl="1" indent="-4572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business-critical system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got a problem. </a:t>
            </a:r>
          </a:p>
          <a:p>
            <a:pPr marL="914400" lvl="1" indent="-4572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number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people are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by an issue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indent="-5715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is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login; </a:t>
            </a:r>
          </a:p>
          <a:p>
            <a:pPr marL="571500" indent="-5715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crashed; </a:t>
            </a:r>
          </a:p>
          <a:p>
            <a:pPr marL="571500" indent="-5715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customer’s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is locked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password needs to be reset;</a:t>
            </a:r>
          </a:p>
          <a:p>
            <a:pPr marL="571500" indent="-5715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computer has been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infected by a virus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571500" indent="-5715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entire student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is down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71500" indent="-57150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inaccessible, etc. 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974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Priority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6532"/>
            <a:ext cx="12192000" cy="6391468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customer is affected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 problem but 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able to work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problems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service but it 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functional. </a:t>
            </a:r>
          </a:p>
          <a:p>
            <a:pPr algn="just">
              <a:spcAft>
                <a:spcPts val="12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Examples:-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is experiencing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irregular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problems;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unable to open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work within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program;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having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printer problems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access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file share;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data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recovery/backup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754691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Priority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6532"/>
            <a:ext cx="12192000" cy="6391468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 or maintenance tasks. </a:t>
            </a:r>
          </a:p>
          <a:p>
            <a:pPr algn="just">
              <a:spcAft>
                <a:spcPts val="12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asks “how to” questions or requests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software installations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computer set up.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department requests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creations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changes, or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file shares, etc.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34973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Ways to Prioritize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18E2D62-2A4B-48C8-A6F6-B9CE7EDEF6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00216"/>
            <a:ext cx="12192000" cy="61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38700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Referring requests to appropriate person or department for assistance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for Referral :</a:t>
            </a:r>
          </a:p>
          <a:p>
            <a:pPr algn="just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create a request for referral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how to ask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who to ask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a referral in writing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it easy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25055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 appropriate persons with client support to be communicated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act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from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place, person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communication involves (at least) one sender, a message and a recipient. 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message from sender to recipient can be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 huge range of things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emotions, </a:t>
            </a:r>
          </a:p>
          <a:p>
            <a:pPr marL="914400" lvl="1" indent="-4572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cultural situation, </a:t>
            </a:r>
          </a:p>
          <a:p>
            <a:pPr marL="914400" lvl="1" indent="-4572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medium used to communicate, </a:t>
            </a:r>
          </a:p>
          <a:p>
            <a:pPr marL="914400" lvl="1" indent="-457200" algn="just"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location, etc.</a:t>
            </a:r>
          </a:p>
        </p:txBody>
      </p:sp>
    </p:spTree>
    <p:extLst>
      <p:ext uri="{BB962C8B-B14F-4D97-AF65-F5344CB8AC3E}">
        <p14:creationId xmlns:p14="http://schemas.microsoft.com/office/powerpoint/2010/main" xmlns="" val="2574525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Support Specialist 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marL="457200" indent="-457200" algn="just"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support specialists specialize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relations. </a:t>
            </a:r>
          </a:p>
          <a:p>
            <a:pPr marL="457200" indent="-457200" algn="just">
              <a:spcAft>
                <a:spcPts val="2400"/>
              </a:spcAft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duties include;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providing technical and product support,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customers with product setup,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recording all customer complaints, comments, and requests, etc.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9415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Support Specialist Responsibilities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 fontScale="92500"/>
          </a:bodyPr>
          <a:lstStyle/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customer queries, complaints, and requests.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product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technical issues.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Troubleshooting, analyzing,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errors,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malfunctions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management.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a detailed record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client data, including useful comments, as well as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on areas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improvement.</a:t>
            </a: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client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billing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as needed.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9212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Support Specialist Requirements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expert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information technology, or a similar field.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service tools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desk software</a:t>
            </a:r>
          </a:p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knowledge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relationship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erbal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skills.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problem-solving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skills.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multitaskin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and organizational skills.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work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pressure</a:t>
            </a: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2986596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6"/>
            <a:ext cx="11849878" cy="1854821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Monotype Corsiva" panose="03010101010201010101" pitchFamily="66" charset="0"/>
              </a:rPr>
              <a:t>Unit Three</a:t>
            </a:r>
            <a:r>
              <a:rPr lang="en-US" sz="4800" dirty="0">
                <a:latin typeface="Monotype Corsiva" panose="03010101010201010101" pitchFamily="66" charset="0"/>
              </a:rPr>
              <a:t/>
            </a:r>
            <a:br>
              <a:rPr lang="en-US" sz="4800" dirty="0">
                <a:latin typeface="Monotype Corsiva" panose="03010101010201010101" pitchFamily="66" charset="0"/>
              </a:rPr>
            </a:br>
            <a:r>
              <a:rPr lang="en-US" sz="4800" b="1" dirty="0">
                <a:latin typeface="Monotype Corsiva" panose="03010101010201010101" pitchFamily="66" charset="0"/>
              </a:rPr>
              <a:t>Participate in workplace meetings and discussions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40793"/>
            <a:ext cx="12192000" cy="5102552"/>
          </a:xfrm>
        </p:spPr>
        <p:txBody>
          <a:bodyPr>
            <a:normAutofit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workplace will have staff meetings/team meetings.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meeting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 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conversation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employees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 a particular topic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list of topics, which should be outlined on 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pre-planned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agenda created by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leader.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formal or informal discussions.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meeting procedures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ensure that the maximum output is gained from a meeting.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56269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Attending team meetings on time as scheduled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Meetings 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parcel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every organization.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a way for employees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information, exchange ideas, share feedback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each other.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team meetings will help a team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quality work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much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faster.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team meetings are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productive, inclusive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&amp;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collaborative.</a:t>
            </a:r>
          </a:p>
        </p:txBody>
      </p:sp>
    </p:spTree>
    <p:extLst>
      <p:ext uri="{BB962C8B-B14F-4D97-AF65-F5344CB8AC3E}">
        <p14:creationId xmlns:p14="http://schemas.microsoft.com/office/powerpoint/2010/main" xmlns="" val="1062026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8540"/>
            <a:ext cx="12192000" cy="641946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basic meeting expectations are:</a:t>
            </a:r>
          </a:p>
          <a:p>
            <a:pPr marL="457200" lvl="0" indent="-457200"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clearly defined purpose to your meeting 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 such as; </a:t>
            </a:r>
          </a:p>
          <a:p>
            <a:pPr marL="914400" lvl="1" indent="-457200"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we meeting? </a:t>
            </a:r>
          </a:p>
          <a:p>
            <a:pPr marL="914400" lvl="1" indent="-457200"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we trying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457200" indent="-457200"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bringing people together for a meeting may be to achieve other important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interpersonal objectives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building, brain storming or group problem solving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 algn="just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sure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you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communicate the meeting purpose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04839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lvl="0"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an agenda 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discussions on track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to keep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focused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agenda should be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attendees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meeting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and finish on time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the meeting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time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participants feel that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time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valued.</a:t>
            </a:r>
          </a:p>
          <a:p>
            <a:pPr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 the participants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must be given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express their opinion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well as they must also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 to others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interruption.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3005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Effective Team Meetings are Important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reasons why you should strive to have effective team meetings.</a:t>
            </a: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Stronger Relationships</a:t>
            </a: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Make Better and Faster Decisions</a:t>
            </a: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Creative Thinking and Innovation</a:t>
            </a:r>
          </a:p>
          <a:p>
            <a:pPr marL="457200" lvl="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Medium for Feedback and Continuous Improvement</a:t>
            </a:r>
          </a:p>
          <a:p>
            <a:pPr lvl="0" algn="just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66305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Effective Team Meetings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tips on how to make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meeting.</a:t>
            </a:r>
          </a:p>
          <a:p>
            <a:pPr lvl="0" algn="just">
              <a:spcAft>
                <a:spcPts val="18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Clear Agenda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your team meeting?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want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meeting?</a:t>
            </a:r>
          </a:p>
          <a:p>
            <a:pPr algn="just">
              <a:spcAft>
                <a:spcPts val="18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Who Should Attend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do you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should be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meeting?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the whole team need to be in it or just select team members?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019352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588" y="700216"/>
            <a:ext cx="11921412" cy="6157783"/>
          </a:xfrm>
        </p:spPr>
        <p:txBody>
          <a:bodyPr>
            <a:normAutofit/>
          </a:bodyPr>
          <a:lstStyle/>
          <a:p>
            <a:pPr lvl="0" algn="just"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Stick to Your Agenda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Anything that’s not on the agenda was not planned to be discussed. 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getting sidetracked by other discussions or topics. If you feel that it’s a necessary discussion to be had, then set up another time to discuss it. </a:t>
            </a:r>
          </a:p>
          <a:p>
            <a:pPr lvl="0" algn="just"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Action Items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action items from the meeting should be properly documented and communicated. </a:t>
            </a:r>
          </a:p>
          <a:p>
            <a:pPr algn="just"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Feedback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your team members to give their inputs and feedback. </a:t>
            </a:r>
          </a:p>
          <a:p>
            <a:pPr algn="just">
              <a:spcAft>
                <a:spcPts val="12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everyone the chance to speak. </a:t>
            </a:r>
          </a:p>
        </p:txBody>
      </p:sp>
    </p:spTree>
    <p:extLst>
      <p:ext uri="{BB962C8B-B14F-4D97-AF65-F5344CB8AC3E}">
        <p14:creationId xmlns:p14="http://schemas.microsoft.com/office/powerpoint/2010/main" xmlns="" val="2248442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Expressing own opinions clearly 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 fontScale="92500" lnSpcReduction="10000"/>
          </a:bodyPr>
          <a:lstStyle/>
          <a:p>
            <a:pPr lvl="0" algn="just">
              <a:spcAft>
                <a:spcPts val="18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 your thoughts in facts.</a:t>
            </a:r>
          </a:p>
          <a:p>
            <a:pPr algn="just">
              <a:spcAft>
                <a:spcPts val="18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your opinion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facts, your argument is more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persuasiv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  </a:t>
            </a:r>
          </a:p>
          <a:p>
            <a:pPr lvl="0" algn="just">
              <a:spcAft>
                <a:spcPts val="18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concrete/real words.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more concrete you are with your thoughts,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clear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be and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people will listen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you and understand you.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not to use absolute words like “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always”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“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</a:t>
            </a:r>
          </a:p>
          <a:p>
            <a:pPr lvl="0" algn="just">
              <a:spcAft>
                <a:spcPts val="18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 firmly, not necessarily loudly.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opinion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say it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firmly/confidentially. </a:t>
            </a:r>
          </a:p>
          <a:p>
            <a:pPr marL="457200" indent="-457200" algn="just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make an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having to make a loud noise.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1185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2556"/>
            <a:ext cx="12192000" cy="6475444"/>
          </a:xfrm>
        </p:spPr>
        <p:txBody>
          <a:bodyPr>
            <a:normAutofit fontScale="92500" lnSpcReduction="10000"/>
          </a:bodyPr>
          <a:lstStyle/>
          <a:p>
            <a:pPr lvl="0" algn="just"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questions, and listen to others.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Bring other people in. </a:t>
            </a:r>
          </a:p>
          <a:p>
            <a:pPr algn="just"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 at the person.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contact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are speaking and listening.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towards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your body language to demonstrate openness. </a:t>
            </a:r>
          </a:p>
          <a:p>
            <a:pPr algn="just"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be a contrarian for the sake of being a contrarian.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 question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counter point,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your opinion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intentionally shut down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people’s opinions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prove a point. 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Arguing for the sake of arguing is counterproductive, egotistical and turns people off.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1431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1478F-8FEC-46D0-A62D-21F332B6E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061" y="114657"/>
            <a:ext cx="11849878" cy="501164"/>
          </a:xfrm>
        </p:spPr>
        <p:txBody>
          <a:bodyPr>
            <a:noAutofit/>
          </a:bodyPr>
          <a:lstStyle/>
          <a:p>
            <a:r>
              <a:rPr lang="en-US" sz="3200" dirty="0"/>
              <a:t>Cont’d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6FA58-D9F1-42E4-9D79-D11F839CF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00216"/>
            <a:ext cx="12192000" cy="6157783"/>
          </a:xfrm>
        </p:spPr>
        <p:txBody>
          <a:bodyPr>
            <a:normAutofit/>
          </a:bodyPr>
          <a:lstStyle/>
          <a:p>
            <a:pPr lvl="0"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 first and last.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speaking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matters.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hold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 at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set the tone.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Speaking also 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at the end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allows you 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 people’s thoughts in your remarks. 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mutual respect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4503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1841</Words>
  <Application>Microsoft Office PowerPoint</Application>
  <PresentationFormat>Custom</PresentationFormat>
  <Paragraphs>251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Overview of Client support requirements</vt:lpstr>
      <vt:lpstr>Cont’d</vt:lpstr>
      <vt:lpstr>Cont’d</vt:lpstr>
      <vt:lpstr>Cont’d</vt:lpstr>
      <vt:lpstr>Recording client support requests and requirements</vt:lpstr>
      <vt:lpstr>Cont’d</vt:lpstr>
      <vt:lpstr>Recording Client’s support Request</vt:lpstr>
      <vt:lpstr>Slide 9</vt:lpstr>
      <vt:lpstr>Reviewing client support history and details </vt:lpstr>
      <vt:lpstr>Checking and requesting the information for accuracy &amp; urgency </vt:lpstr>
      <vt:lpstr>Unit Two Prioritize Support Requests Identifying relevant guidelines for prioritizing or rating client requests </vt:lpstr>
      <vt:lpstr>Organizational Guidelines</vt:lpstr>
      <vt:lpstr>High Priority</vt:lpstr>
      <vt:lpstr>Medium Priority</vt:lpstr>
      <vt:lpstr>Low Priority</vt:lpstr>
      <vt:lpstr>Ways to Prioritize</vt:lpstr>
      <vt:lpstr>Referring requests to appropriate person or department for assistance </vt:lpstr>
      <vt:lpstr>Involve appropriate persons with client support to be communicated</vt:lpstr>
      <vt:lpstr>Client Support Specialist </vt:lpstr>
      <vt:lpstr>Client Support Specialist Responsibilities</vt:lpstr>
      <vt:lpstr>Client Support Specialist Requirements</vt:lpstr>
      <vt:lpstr>Unit Three Participate in workplace meetings and discussions </vt:lpstr>
      <vt:lpstr>Attending team meetings on time as scheduled</vt:lpstr>
      <vt:lpstr>Cont’d</vt:lpstr>
      <vt:lpstr>Cont’d</vt:lpstr>
      <vt:lpstr>Why Effective Team Meetings are Important</vt:lpstr>
      <vt:lpstr>Running Effective Team Meetings</vt:lpstr>
      <vt:lpstr>Cont’d</vt:lpstr>
      <vt:lpstr>Expressing own opinions clearly </vt:lpstr>
      <vt:lpstr>Cont’d</vt:lpstr>
      <vt:lpstr>Cont’d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End</dc:creator>
  <cp:lastModifiedBy>Instractors-PC</cp:lastModifiedBy>
  <cp:revision>61</cp:revision>
  <dcterms:created xsi:type="dcterms:W3CDTF">2023-08-02T10:37:01Z</dcterms:created>
  <dcterms:modified xsi:type="dcterms:W3CDTF">2025-10-11T06:26:20Z</dcterms:modified>
</cp:coreProperties>
</file>